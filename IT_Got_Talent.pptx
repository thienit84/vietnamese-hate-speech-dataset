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🔥 SAFESENSE-VI: PHÁT HIỆN BÌNH LUẬN ĐỘC HẠI TIẾNG VIỆT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Trình bày IT Got Talent - 10 phút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Dựa trên dữ liệu thực tế từ dự án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GIỚI THIỆU DỰ ÁN (1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SafeSense-VI: Vietnamese Toxic Comment Classification</a:t>
            </a:r>
          </a:p>
          <a:p>
            <a:pPr lvl="0" indent="0" marL="0">
              <a:buNone/>
            </a:pPr>
            <a:r>
              <a:rPr b="1"/>
              <a:t>Thông tin dự án:</a:t>
            </a:r>
            <a:r>
              <a:rPr/>
              <a:t> - </a:t>
            </a:r>
            <a:r>
              <a:rPr b="1"/>
              <a:t>Task:</a:t>
            </a:r>
            <a:r>
              <a:rPr/>
              <a:t> Multi-class classification (3 labels) - Label 0: Clean / Positive Slang - Label 1: Toxic / Offensive - Label 2: Hate Speech / Dangerous - </a:t>
            </a:r>
            <a:r>
              <a:rPr b="1"/>
              <a:t>Dataset:</a:t>
            </a:r>
            <a:r>
              <a:rPr/>
              <a:t> 6,285 mẫu được gán nhãn thủ công - </a:t>
            </a:r>
            <a:r>
              <a:rPr b="1"/>
              <a:t>Model:</a:t>
            </a:r>
            <a:r>
              <a:rPr/>
              <a:t> PhoBERT-v2 (vinai/phobert-base-v2) - </a:t>
            </a:r>
            <a:r>
              <a:rPr b="1"/>
              <a:t>Target:</a:t>
            </a:r>
            <a:r>
              <a:rPr/>
              <a:t> F1-Score &gt; 0.72</a:t>
            </a:r>
          </a:p>
          <a:p>
            <a:pPr lvl="0" indent="0" marL="0">
              <a:buNone/>
            </a:pPr>
            <a:r>
              <a:rPr b="1"/>
              <a:t>Điểm nổi bật:</a:t>
            </a:r>
            <a:r>
              <a:rPr/>
              <a:t> ✅ Guideline gán nhãn V7.2 - Tiếp cận khoa học</a:t>
            </a:r>
            <a:br/>
            <a:r>
              <a:rPr/>
              <a:t>✅ Advanced text cleaning với “Intensity Preservation”</a:t>
            </a:r>
            <a:br/>
            <a:r>
              <a:rPr/>
              <a:t>✅ Context-aware processing (title  comment)</a:t>
            </a:r>
            <a:br/>
            <a:r>
              <a:rPr/>
              <a:t>✅ Production-ready với F1-Score 0.76-0.80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BÀI TOÁN &amp; THÁCH THỨC (1.5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Phát biểu bài toán</a:t>
            </a:r>
          </a:p>
          <a:p>
            <a:pPr lvl="0" indent="0" marL="0">
              <a:buNone/>
            </a:pPr>
            <a:r>
              <a:rPr b="1"/>
              <a:t>Vấn đề thực tế:</a:t>
            </a:r>
            <a:r>
              <a:rPr/>
              <a:t> - Bình luận độc hại trên mạng xã hội Việt Nam gia tăng - Thiếu công cụ tự động phát hiện hiệu quả - Ranh giới mờ giữa Toxic và Hate Speech</a:t>
            </a:r>
          </a:p>
          <a:p>
            <a:pPr lvl="0" indent="0" marL="0">
              <a:buNone/>
            </a:pPr>
            <a:r>
              <a:rPr b="1"/>
              <a:t>Mục tiêu:</a:t>
            </a:r>
            <a:r>
              <a:rPr/>
              <a:t> &gt; Xây dựng hệ thống AI phân loại tự động bình luận tiếng Việt với độ chính xác cao, hiểu được ngữ cảnh và nuance (sắc thái tinh tế)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🔥 Thách thức cần giải quyết</a:t>
            </a:r>
          </a:p>
          <a:p>
            <a:pPr lvl="0" indent="0" marL="0">
              <a:buNone/>
            </a:pPr>
            <a:r>
              <a:rPr b="1"/>
              <a:t>1. Thách thức về Ngôn ngữ:</a:t>
            </a:r>
            <a:r>
              <a:rPr/>
              <a:t> - </a:t>
            </a:r>
            <a:r>
              <a:rPr b="1"/>
              <a:t>Positive Slang:</a:t>
            </a:r>
            <a:r>
              <a:rPr/>
              <a:t> “Giỏi vcl” (khen) vs “Ngu vcl” (chửi) - </a:t>
            </a:r>
            <a:r>
              <a:rPr b="1"/>
              <a:t>Intensity Gradient:</a:t>
            </a:r>
            <a:r>
              <a:rPr/>
              <a:t> “đm” (viết tắt - nhẹ) vs “địt mẹ” (đầy đủ - nặng) - </a:t>
            </a:r>
            <a:r>
              <a:rPr b="1"/>
              <a:t>Context-dependent:</a:t>
            </a:r>
            <a:r>
              <a:rPr/>
              <a:t> “Thằng bạn tôi” (thân mật) vs “Thằngnày” (công kích) - </a:t>
            </a:r>
            <a:r>
              <a:rPr b="1"/>
              <a:t>Pronoun Trigger:</a:t>
            </a:r>
            <a:r>
              <a:rPr/>
              <a:t> “Nên vào tù” (Clean) vs “Mày phải vào tù” (Toxic)</a:t>
            </a:r>
          </a:p>
          <a:p>
            <a:pPr lvl="0" indent="0" marL="0">
              <a:buNone/>
            </a:pPr>
            <a:r>
              <a:rPr b="1"/>
              <a:t>2. Thách thức về Dữ liệu:</a:t>
            </a:r>
            <a:r>
              <a:rPr/>
              <a:t> - Thiếu dataset tiếng Việt chất lượng cao - Ranh giới mờ giữa 3 nhãn - Imbalanced data (Clean 44%, Toxic 26%, Hate 29%)</a:t>
            </a:r>
          </a:p>
          <a:p>
            <a:pPr lvl="0" indent="0" marL="0">
              <a:buNone/>
            </a:pPr>
            <a:r>
              <a:rPr b="1"/>
              <a:t>3. Thách thức về Kỹ thuật:</a:t>
            </a:r>
            <a:r>
              <a:rPr/>
              <a:t> - Bảo toàn ngữ nghĩa khi tiền xử lý - Xử lý special tokens (, , ) - Word segmentation cho PhoBERT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QUÁ TRÌNH XỬ LÝ DATA (2.5 phút)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Thu thập dữ liệu</a:t>
            </a:r>
          </a:p>
          <a:p>
            <a:pPr lvl="0" indent="0" marL="0">
              <a:buNone/>
            </a:pPr>
            <a:r>
              <a:rPr b="1"/>
              <a:t>Nguồn dữ liệu:</a:t>
            </a:r>
          </a:p>
          <a:p>
            <a:pPr lvl="0" indent="0">
              <a:buNone/>
            </a:pPr>
            <a:r>
              <a:rPr>
                <a:latin typeface="Courier"/>
              </a:rPr>
              <a:t>data/interim/
├── master_combined.csv (50,000+ comments)
├── unlabeled_data.csv
└── unlabeled_with_context.csv</a:t>
            </a:r>
          </a:p>
          <a:p>
            <a:pPr lvl="0" indent="0" marL="0">
              <a:buNone/>
            </a:pPr>
            <a:r>
              <a:rPr b="1"/>
              <a:t>Các nguồn:</a:t>
            </a:r>
            <a:r>
              <a:rPr/>
              <a:t> - Facebook Comments (Confession, Showbiz, lgbt, pbvm, attack family, ..) - YouTube Comments (Rap Việt, Drama)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🏷️ Gán nhãn thủ công - Guideline V7.2</a:t>
            </a:r>
          </a:p>
          <a:p>
            <a:pPr lvl="0" indent="0" marL="0">
              <a:buNone/>
            </a:pPr>
            <a:r>
              <a:rPr b="1"/>
              <a:t>Triết lý:</a:t>
            </a:r>
            <a:r>
              <a:rPr/>
              <a:t> “Ngữ cảnh quyết định Nhãn” (Contextual Intelligence)</a:t>
            </a:r>
          </a:p>
          <a:p>
            <a:pPr lvl="0" indent="0" marL="0">
              <a:buNone/>
            </a:pPr>
            <a:r>
              <a:rPr b="1"/>
              <a:t>Hệ thống 3 nhãn: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Label 0: Clean</a:t>
            </a:r>
          </a:p>
          <a:p>
            <a:pPr lvl="0"/>
            <a:r>
              <a:rPr/>
              <a:t>Phẫn nộ văn minh: “Nên xử phạt nghiêm”</a:t>
            </a:r>
          </a:p>
          <a:p>
            <a:pPr lvl="0"/>
            <a:r>
              <a:rPr/>
              <a:t>Tường thuật: “Hình như vụ đó bị tử hình rồi”</a:t>
            </a:r>
          </a:p>
          <a:p>
            <a:pPr lvl="0"/>
            <a:r>
              <a:rPr/>
              <a:t>Cảnh báo: “Coi chừng nó giết đấy”, “coi chừng về nó giết đấy”</a:t>
            </a:r>
          </a:p>
          <a:p>
            <a:pPr lvl="0"/>
            <a:r>
              <a:rPr b="1"/>
              <a:t>Positive Slang:</a:t>
            </a:r>
            <a:r>
              <a:rPr/>
              <a:t> “Giỏi vcl”, “Đỉnh vãi”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Label 1: Toxic/Offensive</a:t>
            </a:r>
          </a:p>
          <a:p>
            <a:pPr lvl="0"/>
            <a:r>
              <a:rPr b="1"/>
              <a:t>Pronoun Trigger:</a:t>
            </a:r>
            <a:r>
              <a:rPr/>
              <a:t> “</a:t>
            </a:r>
            <a:r>
              <a:rPr b="1"/>
              <a:t>Thằng</a:t>
            </a:r>
            <a:r>
              <a:rPr/>
              <a:t> này nên đi tù”</a:t>
            </a:r>
          </a:p>
          <a:p>
            <a:pPr lvl="0"/>
            <a:r>
              <a:rPr/>
              <a:t>Chửi thề tiêu cực: “Đm mưa hoài”, “Ngu vcl”</a:t>
            </a:r>
          </a:p>
          <a:p>
            <a:pPr lvl="0"/>
            <a:r>
              <a:rPr/>
              <a:t>Công kích cá nhân: “Mày nín đi”</a:t>
            </a:r>
          </a:p>
          <a:p>
            <a:pPr lvl="0"/>
            <a:r>
              <a:rPr/>
              <a:t>Miệt thị: “Xấu quá”, “Ngu như…”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Label 2: Hate Speech</a:t>
            </a:r>
          </a:p>
          <a:p>
            <a:pPr lvl="0"/>
            <a:r>
              <a:rPr b="1"/>
              <a:t>Family Attack:</a:t>
            </a:r>
            <a:r>
              <a:rPr/>
              <a:t> “Ba mẹ mày ngu nên dạy thế à”</a:t>
            </a:r>
          </a:p>
          <a:p>
            <a:pPr lvl="0"/>
            <a:r>
              <a:rPr b="1"/>
              <a:t>Incitement:</a:t>
            </a:r>
            <a:r>
              <a:rPr/>
              <a:t> “Xiên chết nó đi”, “nên tử hình thằng này”</a:t>
            </a:r>
          </a:p>
          <a:p>
            <a:pPr lvl="0"/>
            <a:r>
              <a:rPr b="1"/>
              <a:t>Identity Hate:</a:t>
            </a:r>
            <a:r>
              <a:rPr/>
              <a:t> “Bắc kỳ toàn gian”, “LGBT bệnh hoạn”</a:t>
            </a:r>
          </a:p>
          <a:p>
            <a:pPr lvl="0"/>
            <a:r>
              <a:rPr b="1"/>
              <a:t>Dehumanization:</a:t>
            </a:r>
            <a:r>
              <a:rPr/>
              <a:t> “Béo như lợn”, “Óc chó”</a:t>
            </a:r>
          </a:p>
          <a:p>
            <a:pPr lvl="0" indent="0" marL="0">
              <a:buNone/>
            </a:pPr>
            <a:r>
              <a:rPr b="1"/>
              <a:t>Quy tắc đặc biệt: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Tình huống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Ví dụ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Lý 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Tường thuật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“Hình như bị tử hình rồi”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Narrative 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Cảnh báo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“Coi chừng nó giết đấy”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Assessment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Kích động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“Nên tử hình loại này”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Incitement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Positive Slang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“Giỏi đm luôn”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Từ tục nhấn mạnh khen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Pronoun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“Thằng này nên tù”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Đại từ hạ thấp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Kết quả gán nhãn:</a:t>
            </a:r>
          </a:p>
          <a:p>
            <a:pPr lvl="0" indent="0">
              <a:buNone/>
            </a:pPr>
            <a:r>
              <a:rPr>
                <a:latin typeface="Courier"/>
              </a:rPr>
              <a:t>✅ 6,285 mẫu chất lượng cao
   - Label 0 (Clean): 2,795 (44.47%)
   - Label 1 (Toxic): 1,647 (26.21%)
   - Label 2 (Hate): 1,843 (29.32%)
   - Balance ratio: 1.70x
   - Inter-annotator agreement: 70-75% full consensus
   - Quality assurance: Multiple rounds of review and discussion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🧹 Tiền xử lý nâng cao - Pipeline 18 bước</a:t>
            </a:r>
          </a:p>
          <a:p>
            <a:pPr lvl="0" indent="0" marL="0">
              <a:buNone/>
            </a:pPr>
            <a:r>
              <a:rPr b="1"/>
              <a:t>File:</a:t>
            </a:r>
            <a:r>
              <a:rPr/>
              <a:t> </a:t>
            </a:r>
            <a:r>
              <a:rPr>
                <a:latin typeface="Courier"/>
              </a:rPr>
              <a:t>src/preprocessing/advanced_text_cleaning.py</a:t>
            </a:r>
            <a:r>
              <a:rPr/>
              <a:t> (778 dòng code)</a:t>
            </a:r>
          </a:p>
          <a:p>
            <a:pPr lvl="0" indent="0" marL="0">
              <a:buNone/>
            </a:pPr>
            <a:r>
              <a:rPr b="1"/>
              <a:t>Triết lý:</a:t>
            </a:r>
            <a:r>
              <a:rPr/>
              <a:t> “Bảo toàn nồng độ + Bảo toàn cấu trúc” (Intensity + Structure Preservation)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Pipeline Order (18 bước tối ưu):</a:t>
            </a:r>
          </a:p>
          <a:p>
            <a:pPr lvl="0" indent="0" marL="0">
              <a:buNone/>
            </a:pPr>
            <a:r>
              <a:rPr b="1"/>
              <a:t>BƯỚC 1: Unicode Normalize (NFC)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Chuẩn hóa dấu tiếng Việt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"Việt Nam"</a:t>
            </a:r>
            <a:r>
              <a:rPr>
                <a:latin typeface="Courier"/>
              </a:rPr>
              <a:t> (dấu tổ hợp)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"Việt Nam"</a:t>
            </a:r>
            <a:r>
              <a:rPr>
                <a:latin typeface="Courier"/>
              </a:rPr>
              <a:t> (dấu chuẩn NFC)</a:t>
            </a:r>
          </a:p>
          <a:p>
            <a:pPr lvl="0" indent="0" marL="0">
              <a:buNone/>
            </a:pPr>
            <a:r>
              <a:rPr b="1"/>
              <a:t>BƯỚC 2: HTML/URL Removal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Xóa rác kỹ thuật NHƯNG bảo toàn special tokens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"Video hay &lt;b&gt;vcl&lt;/b&gt; https://youtube.com &lt;/s&gt; comment"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"Video hay vcl &lt;/s&gt; comment"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✅ Bảo toàn: &lt;/s&gt;, &lt;person&gt;, &lt;emo_pos&gt;, &lt;user&gt;</a:t>
            </a:r>
          </a:p>
          <a:p>
            <a:pPr lvl="0" indent="0" marL="0">
              <a:buNone/>
            </a:pPr>
            <a:r>
              <a:rPr b="1"/>
              <a:t>BƯỚC 3: Hashtag Removal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Xóa hashtags (spam)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"Video hay #giaothong #xuhuong #viral"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"Video hay"</a:t>
            </a:r>
          </a:p>
          <a:p>
            <a:pPr lvl="0" indent="0" marL="0">
              <a:buNone/>
            </a:pPr>
            <a:r>
              <a:rPr b="1"/>
              <a:t>BƯỚC 4: Teencode Normalization (PRESERVE CASE!)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Chuẩn hóa NEUTRAL words, BẢO TOÀN intensity-sensitive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"ko biết, chị ak, đẹp đm, địt mẹ mày"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"không biết, chị ạ, đẹp đm, địt mẹ mày"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Nhóm 1: TEENCODE_NEUTRAL - Chuẩn hóa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"ko"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70A0"/>
                </a:solidFill>
                <a:latin typeface="Courier"/>
              </a:rPr>
              <a:t>"không"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"mik"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70A0"/>
                </a:solidFill>
                <a:latin typeface="Courier"/>
              </a:rPr>
              <a:t>"mình"</a:t>
            </a:r>
            <a:r>
              <a:rPr>
                <a:latin typeface="Courier"/>
              </a:rPr>
              <a:t>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"hnay"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70A0"/>
                </a:solidFill>
                <a:latin typeface="Courier"/>
              </a:rPr>
              <a:t>"hôm nay"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"ak"</a:t>
            </a:r>
            <a:r>
              <a:rPr>
                <a:latin typeface="Courier"/>
              </a:rPr>
              <a:t> → </a:t>
            </a:r>
            <a:r>
              <a:rPr>
                <a:solidFill>
                  <a:srgbClr val="4070A0"/>
                </a:solidFill>
                <a:latin typeface="Courier"/>
              </a:rPr>
              <a:t>"ạ"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⭐ Quan trọng: tránh NER nhầm "ak" là tên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Nhóm 2: TEENCODE_INTENSITY_SENSITIVE - BẢO TOÀN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"đm"</a:t>
            </a:r>
            <a:r>
              <a:rPr>
                <a:latin typeface="Courier"/>
              </a:rPr>
              <a:t> → GIỮ NGUYÊN (viết tắt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ít toxic)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"địt mẹ"</a:t>
            </a:r>
            <a:r>
              <a:rPr>
                <a:latin typeface="Courier"/>
              </a:rPr>
              <a:t> → GIỮ NGUYÊN (đầy đủ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rất toxic)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"vcl"</a:t>
            </a:r>
            <a:r>
              <a:rPr>
                <a:latin typeface="Courier"/>
              </a:rPr>
              <a:t> → GIỮ NGUYÊN (slang)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"vãi lồn"</a:t>
            </a:r>
            <a:r>
              <a:rPr>
                <a:latin typeface="Courier"/>
              </a:rPr>
              <a:t> → GIỮ NGUYÊN (explicit)</a:t>
            </a:r>
          </a:p>
          <a:p>
            <a:pPr lvl="0" indent="0" marL="0">
              <a:buNone/>
            </a:pPr>
            <a:r>
              <a:rPr b="1"/>
              <a:t>BƯỚC 5: Named Entity Masking (BEFORE lowercase!)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Mask tên người thành &lt;person&gt;, @username thành &lt;user&gt;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"Trần Ngọc đẹp vcl, @user123 nói đúng"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"&lt;person&gt; đẹp vcl, &lt;user&gt; nói đúng"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Advanced NER với 4 patterns: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1. Họ + Tên: "Nguyễn Văn A", "Trần Thị Bích Ngọc"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2. Danh xưng + Tên: "anh Tuấn", "chị Hoa"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3. Viết tắt: "N.V.A", "Nguyễn V.A"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4. Compound relations: "ba mẹ", "anh em" → KHÔNG mask (theo Guideline V7.2)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⚠️ CRITICAL: Chạy TRƯỚC lowercase để detect "Trần Ngọc"</a:t>
            </a:r>
          </a:p>
          <a:p>
            <a:pPr lvl="0" indent="0" marL="0">
              <a:buNone/>
            </a:pPr>
            <a:r>
              <a:rPr b="1"/>
              <a:t>BƯỚC 6: Protect Tags Before Lowercase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Bảo vệ tags khỏi lowercase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→ ___USER___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→ ___PERSON___</a:t>
            </a:r>
          </a:p>
          <a:p>
            <a:pPr lvl="0" indent="0" marL="0">
              <a:buNone/>
            </a:pPr>
            <a:r>
              <a:rPr b="1"/>
              <a:t>BƯỚC 7: Lowercase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Chuẩn hóa chữ thường (SAU khi mask entities)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"Đẹp VCL, &lt;person&gt; Ngu"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"đẹp vcl, &lt;person&gt; ngu"</a:t>
            </a:r>
          </a:p>
          <a:p>
            <a:pPr lvl="0" indent="0" marL="0">
              <a:buNone/>
            </a:pPr>
            <a:r>
              <a:rPr b="1"/>
              <a:t>BƯỚC 8: Restore Protected Tags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Khôi phục tags</a:t>
            </a:r>
            <a:br/>
            <a:r>
              <a:rPr>
                <a:latin typeface="Courier"/>
              </a:rPr>
              <a:t>___user___ →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___person___ →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 b="1"/>
              <a:t>BƯỚC 9: Emoji → Sentiment Tags (3 tầng ưu tiên)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Tầng 1: INSULT_EMOJI (cao nhất) - với intensity</a:t>
            </a:r>
            <a:br/>
            <a:r>
              <a:rPr>
                <a:latin typeface="Courier"/>
              </a:rPr>
              <a:t>🐕 → </a:t>
            </a:r>
            <a:r>
              <a:rPr>
                <a:solidFill>
                  <a:srgbClr val="4070A0"/>
                </a:solidFill>
                <a:latin typeface="Courier"/>
              </a:rPr>
              <a:t>"chó"</a:t>
            </a:r>
            <a:br/>
            <a:r>
              <a:rPr>
                <a:latin typeface="Courier"/>
              </a:rPr>
              <a:t>🐕🐕🐕🐕 → </a:t>
            </a:r>
            <a:r>
              <a:rPr>
                <a:solidFill>
                  <a:srgbClr val="4070A0"/>
                </a:solidFill>
                <a:latin typeface="Courier"/>
              </a:rPr>
              <a:t>"chó &lt;intense&gt;"</a:t>
            </a:r>
            <a:br/>
            <a:r>
              <a:rPr>
                <a:latin typeface="Courier"/>
              </a:rPr>
              <a:t>🐷 → </a:t>
            </a:r>
            <a:r>
              <a:rPr>
                <a:solidFill>
                  <a:srgbClr val="4070A0"/>
                </a:solidFill>
                <a:latin typeface="Courier"/>
              </a:rPr>
              <a:t>"lợn"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Tầng 2: SPECIAL_EMOJI (LGBT, specific)</a:t>
            </a:r>
            <a:br/>
            <a:r>
              <a:rPr>
                <a:latin typeface="Courier"/>
              </a:rPr>
              <a:t>🏳️‍🌈 → </a:t>
            </a:r>
            <a:r>
              <a:rPr>
                <a:solidFill>
                  <a:srgbClr val="4070A0"/>
                </a:solidFill>
                <a:latin typeface="Courier"/>
              </a:rPr>
              <a:t>"lgbt"</a:t>
            </a:r>
            <a:br/>
            <a:r>
              <a:rPr>
                <a:latin typeface="Courier"/>
              </a:rPr>
              <a:t>🌈 → </a:t>
            </a:r>
            <a:r>
              <a:rPr>
                <a:solidFill>
                  <a:srgbClr val="4070A0"/>
                </a:solidFill>
                <a:latin typeface="Courier"/>
              </a:rPr>
              <a:t>"lgbt"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Tầng 3: EMOJI_SENTIMENT (generic)</a:t>
            </a:r>
            <a:br/>
            <a:r>
              <a:rPr>
                <a:latin typeface="Courier"/>
              </a:rPr>
              <a:t>😂 🤣 →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emo_pos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😢 😭 😡 →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emo_neg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🙂 😅 →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 (xóa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neutral)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Ví dụ: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"Béo như 🐷🐷🐷 😡"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"Béo như lợn &lt;intense&gt; &lt;emo_neg&gt;"</a:t>
            </a:r>
          </a:p>
          <a:p>
            <a:pPr lvl="0" indent="0" marL="0">
              <a:buNone/>
            </a:pPr>
            <a:r>
              <a:rPr b="1"/>
              <a:t>BƯỚC 10: Text Emoticons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Xóa ASCII emoticons NHƯNG bảo vệ time format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":))) video hay :D, gặp lúc 12:30"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"video hay, gặp lúc 12:30"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✅ Bảo toàn: 12:30, 14:00 (time format)</a:t>
            </a:r>
          </a:p>
          <a:p>
            <a:pPr lvl="0" indent="0" marL="0">
              <a:buNone/>
            </a:pPr>
            <a:r>
              <a:rPr b="1"/>
              <a:t>BƯỚC 11: English Insult Detection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Map English insults to tags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"stupid idiot, fuck you"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"&lt;eng_insult&gt; &lt;eng_insult&gt;, &lt;eng_vulgar&gt; you"</a:t>
            </a:r>
          </a:p>
          <a:p>
            <a:pPr lvl="0" indent="0" marL="0">
              <a:buNone/>
            </a:pPr>
            <a:r>
              <a:rPr b="1"/>
              <a:t>BƯỚC 12: Unicode Tricks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Chuẩn hóa Unicode giống Latin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"ηgu"</a:t>
            </a:r>
            <a:r>
              <a:rPr>
                <a:latin typeface="Courier"/>
              </a:rPr>
              <a:t> (Greek eta)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"ngu"</a:t>
            </a:r>
          </a:p>
          <a:p>
            <a:pPr lvl="0" indent="0" marL="0">
              <a:buNone/>
            </a:pPr>
            <a:r>
              <a:rPr b="1"/>
              <a:t>BƯỚC 13: Bypass Patterns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Xử lý bypass patterns NHƯNG bảo toàn a-z, tags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"n.g.u, đ-m, a-z, &lt;emo_neg&gt;"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"ngu, đm, a-z, &lt;emo_neg&gt;"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✅ Bảo toàn: a-z, A-Z, &lt;tags&gt;</a:t>
            </a:r>
          </a:p>
          <a:p>
            <a:pPr lvl="0" indent="0" marL="0">
              <a:buNone/>
            </a:pPr>
            <a:r>
              <a:rPr b="1"/>
              <a:t>BƯỚC 14: Leetspeak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Chuyển số thành chữ CHỈ KHI số nằm SAU chữ cái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"ngu4, ch3t, 3-4 năm, 25k"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"ngua, chết, 3-4 năm, 25k"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✅ Không convert: số đứng đầu hoặc đứng riêng</a:t>
            </a:r>
          </a:p>
          <a:p>
            <a:pPr lvl="0" indent="0" marL="0">
              <a:buNone/>
            </a:pPr>
            <a:r>
              <a:rPr b="1"/>
              <a:t>BƯỚC 15: Repeated Chars with Intensity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Xử lý ký tự lặp với intensity markers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"nguuuuu, đmmmmmmm, hayyy"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"ngu &lt;very_intense&gt;, đm &lt;very_intense&gt;, hay &lt;intense&gt;"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Logic: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Lặp 5+ lần: &lt;very_intense&gt;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Lặp 3-4 lần: &lt;intense&gt;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Lặp 2 lần: giữ nguyên</a:t>
            </a:r>
          </a:p>
          <a:p>
            <a:pPr lvl="0" indent="0" marL="0">
              <a:buNone/>
            </a:pPr>
            <a:r>
              <a:rPr b="1"/>
              <a:t>BƯỚC 16: Context-Aware “m” Mapping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Phân biệt "m" = "em" hay "mày" dựa vào context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Positive context → "em"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"t yêu m vô cùng"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"tôi yêu em vô cùng"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Toxic context → "mày"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"đm m ngu vcl"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"địt mẹ mày ngu vcl"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Neutral → "mình"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"m đi đâu"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"mình đi đâu"</a:t>
            </a:r>
          </a:p>
          <a:p>
            <a:pPr lvl="0" indent="0" marL="0">
              <a:buNone/>
            </a:pPr>
            <a:r>
              <a:rPr b="1"/>
              <a:t>BƯỚC 17: Normalize Punctuation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Thêm khoảng trắng sau dấu câu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"Video hay.Cảm ơn,bạn!"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"Video hay. Cảm ơn, bạn!"</a:t>
            </a:r>
          </a:p>
          <a:p>
            <a:pPr lvl="0" indent="0" marL="0">
              <a:buNone/>
            </a:pPr>
            <a:r>
              <a:rPr b="1"/>
              <a:t>BƯỚC 18: Normalize Whitespace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Chuẩn hóa khoảng trắng (cuối cùng)</a:t>
            </a:r>
            <a:br/>
            <a:r>
              <a:rPr>
                <a:latin typeface="Courier"/>
              </a:rPr>
              <a:t>Input:  </a:t>
            </a:r>
            <a:r>
              <a:rPr>
                <a:solidFill>
                  <a:srgbClr val="4070A0"/>
                </a:solidFill>
                <a:latin typeface="Courier"/>
              </a:rPr>
              <a:t>"Video   hay    vcl"</a:t>
            </a:r>
            <a:br/>
            <a:r>
              <a:rPr>
                <a:latin typeface="Courier"/>
              </a:rPr>
              <a:t>Output: </a:t>
            </a:r>
            <a:r>
              <a:rPr>
                <a:solidFill>
                  <a:srgbClr val="4070A0"/>
                </a:solidFill>
                <a:latin typeface="Courier"/>
              </a:rPr>
              <a:t>"Video hay vcl"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Ví dụ tổng hợp (End-to-End):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Input (raw comment):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"Đ.m nguuuu vcl 😡 @user123 Trần Ngọc béo như 🐷🐷🐷 :)))"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Pipeline processing: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1-3: Unicode, HTML, Hashtag → không thay đổi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4: Teencode → giữ nguyên "đ.m", "vcl" (intensity-sensitive)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5: NER → "Trần Ngọc" → "&lt;person&gt;"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6-8: Lowercase + protect tags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9: Emoji → 😡 → "&lt;emo_neg&gt;", 🐷🐷🐷 → "lợn &lt;intense&gt;"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10: Emoticon → :))) → ""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13: Bypass → "đ.m" → "đm"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15: Repeated → "nguuuu" → "ngu &lt;very_intense&gt;"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Bước 17-18: Punctuation + whitespace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Output (cleaned):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"đm ngu &lt;very_intense&gt; vcl &lt;emo_neg&gt; &lt;user&gt; &lt;person&gt; béo như lợn &lt;intense&gt;"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Kết quả:</a:t>
            </a:r>
          </a:p>
          <a:p>
            <a:pPr lvl="0" indent="0">
              <a:buNone/>
            </a:pPr>
            <a:r>
              <a:rPr>
                <a:latin typeface="Courier"/>
              </a:rPr>
              <a:t>📂 data/final/final_train_data_v3_READY.xlsx
   - 6,285 samples
   - Pre-segmented (word_segmentation)
   - Special tokens preserved: &lt;person&gt;, &lt;user&gt;, &lt;emo_pos&gt;, &lt;emo_neg&gt;, &lt;/s&gt;
   - Intensity markers: &lt;intense&gt;, &lt;very_intense&gt;
   - Context included: title &lt;/s&gt; comment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Tại sao pipeline này hiệu quả?</a:t>
            </a:r>
          </a:p>
          <a:p>
            <a:pPr lvl="0" indent="0" marL="0">
              <a:buNone/>
            </a:pPr>
            <a:r>
              <a:rPr b="1"/>
              <a:t>1. Intensity Preservation:</a:t>
            </a:r>
            <a:r>
              <a:rPr/>
              <a:t> - “đm” (viết tắt) vs “địt mẹ” (đầy đủ) → Model học intensity gradient - “nguuuu” → “ngu ” → Model học mức độ cảm xúc</a:t>
            </a:r>
          </a:p>
          <a:p>
            <a:pPr lvl="0" indent="0" marL="0">
              <a:buNone/>
            </a:pPr>
            <a:r>
              <a:rPr b="1"/>
              <a:t>2. Context-Aware:</a:t>
            </a:r>
            <a:r>
              <a:rPr/>
              <a:t> - “m” → “em” (positive) vs “mày” (toxic) - Title  Comment → Model hiểu context</a:t>
            </a:r>
          </a:p>
          <a:p>
            <a:pPr lvl="0" indent="0" marL="0">
              <a:buNone/>
            </a:pPr>
            <a:r>
              <a:rPr b="1"/>
              <a:t>3. Special Token Protection:</a:t>
            </a:r>
            <a:r>
              <a:rPr/>
              <a:t> - ,  → Bảo vệ privacy - ,  → Sentiment signal -  → Separator signal</a:t>
            </a:r>
          </a:p>
          <a:p>
            <a:pPr lvl="0" indent="0" marL="0">
              <a:buNone/>
            </a:pPr>
            <a:r>
              <a:rPr b="1"/>
              <a:t>4. Nuance Detection:</a:t>
            </a:r>
            <a:r>
              <a:rPr/>
              <a:t> - “Giỏi vcl” → Label 0 (Positive Slang) - “Ngu vcl” → Label 1 (Toxic) - Model học được sự khác biệt nhờ preserve “vcl”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PHƯƠNG PHÁP ĐỀ XUẤT (2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🤖 Model: PhoBERT-v2</a:t>
            </a:r>
          </a:p>
          <a:p>
            <a:pPr lvl="0" indent="0" marL="0">
              <a:buNone/>
            </a:pPr>
            <a:r>
              <a:rPr b="1"/>
              <a:t>Lựa chọn:</a:t>
            </a:r>
            <a:r>
              <a:rPr/>
              <a:t> vinai/phobert-base-v2</a:t>
            </a:r>
          </a:p>
          <a:p>
            <a:pPr lvl="0" indent="0" marL="0">
              <a:buNone/>
            </a:pPr>
            <a:r>
              <a:rPr b="1"/>
              <a:t>Đặc điểm:</a:t>
            </a:r>
            <a:r>
              <a:rPr/>
              <a:t> - 135M parameters - Trained on 20GB Vietnamese text - Max length: 256 tokens - Requires word segmentation</a:t>
            </a:r>
          </a:p>
          <a:p>
            <a:pPr lvl="0" indent="0" marL="0">
              <a:buNone/>
            </a:pPr>
            <a:r>
              <a:rPr b="1"/>
              <a:t>Configuration:</a:t>
            </a:r>
          </a:p>
          <a:p>
            <a:pPr lvl="0" indent="0">
              <a:buNone/>
            </a:pPr>
            <a:r>
              <a:rPr>
                <a:latin typeface="Courier"/>
              </a:rPr>
              <a:t>MODEL_NAME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"vinai/phobert-base-v2"</a:t>
            </a:r>
            <a:br/>
            <a:r>
              <a:rPr>
                <a:latin typeface="Courier"/>
              </a:rPr>
              <a:t>NUM_LABELS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MAX_LENGTH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256</a:t>
            </a:r>
            <a:br/>
            <a:r>
              <a:rPr>
                <a:latin typeface="Courier"/>
              </a:rPr>
              <a:t>BATCH_SIZE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br/>
            <a:r>
              <a:rPr>
                <a:latin typeface="Courier"/>
              </a:rPr>
              <a:t>GRADIENT_ACCUMULATION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Effective batch = 32</a:t>
            </a:r>
            <a:br/>
            <a:r>
              <a:rPr>
                <a:latin typeface="Courier"/>
              </a:rPr>
              <a:t>EPOCHS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LEARNING_RATE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2e-5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Kỹ thuật tối ưu</a:t>
            </a:r>
          </a:p>
          <a:p>
            <a:pPr lvl="0" indent="0" marL="0">
              <a:buNone/>
            </a:pPr>
            <a:r>
              <a:rPr b="1"/>
              <a:t>1. Class Weights (Xử lý imbalanced data):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Tự động tính class weights</a:t>
            </a:r>
            <a:br/>
            <a:r>
              <a:rPr>
                <a:latin typeface="Courier"/>
              </a:rPr>
              <a:t>Label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(Clean): 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0.75</a:t>
            </a:r>
            <a:br/>
            <a:r>
              <a:rPr>
                <a:latin typeface="Courier"/>
              </a:rPr>
              <a:t>Label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(Toxic): 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1.27</a:t>
            </a:r>
            <a:br/>
            <a:r>
              <a:rPr>
                <a:latin typeface="Courier"/>
              </a:rPr>
              <a:t>Label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(Hate): 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1.14</a:t>
            </a:r>
          </a:p>
          <a:p>
            <a:pPr lvl="0" indent="0" marL="0">
              <a:buNone/>
            </a:pPr>
            <a:r>
              <a:rPr b="1"/>
              <a:t>2. Label Smoothing (Tránh overfitting):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[0, 1, 0] → [0.05, 0.9, 0.05]</a:t>
            </a:r>
            <a:br/>
            <a:r>
              <a:rPr>
                <a:latin typeface="Courier"/>
              </a:rPr>
              <a:t>label_smoothing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</a:p>
          <a:p>
            <a:pPr lvl="0" indent="0" marL="0">
              <a:buNone/>
            </a:pPr>
            <a:r>
              <a:rPr b="1"/>
              <a:t>3. Gradient Accumulation: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Batch 16 x 2 steps = Effective batch 32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Stable training với GPU memory hạn chế</a:t>
            </a:r>
          </a:p>
          <a:p>
            <a:pPr lvl="0" indent="0" marL="0">
              <a:buNone/>
            </a:pPr>
            <a:r>
              <a:rPr b="1"/>
              <a:t>4. Early Stopping:</a:t>
            </a:r>
          </a:p>
          <a:p>
            <a:pPr lvl="0" indent="0">
              <a:buNone/>
            </a:pPr>
            <a:r>
              <a:rPr>
                <a:latin typeface="Courier"/>
              </a:rPr>
              <a:t>PATIENCE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Dừng nếu val F1 không improve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📈 Training Pipeline</a:t>
            </a:r>
          </a:p>
          <a:p>
            <a:pPr lvl="0" indent="0" marL="0">
              <a:buNone/>
            </a:pPr>
            <a:r>
              <a:rPr b="1"/>
              <a:t>Data Split:</a:t>
            </a:r>
          </a:p>
          <a:p>
            <a:pPr lvl="0" indent="0">
              <a:buNone/>
            </a:pPr>
            <a:r>
              <a:rPr>
                <a:latin typeface="Courier"/>
              </a:rPr>
              <a:t>Train: 80% (5,028 samples)
Val: 10% (628 samples)
Test: 10% (629 samples)
Stratified split (giữ tỷ lệ labels)</a:t>
            </a:r>
          </a:p>
          <a:p>
            <a:pPr lvl="0" indent="0" marL="0">
              <a:buNone/>
            </a:pPr>
            <a:r>
              <a:rPr b="1"/>
              <a:t>Training Progress:</a:t>
            </a:r>
          </a:p>
          <a:p>
            <a:pPr lvl="0" indent="0">
              <a:buNone/>
            </a:pPr>
            <a:r>
              <a:rPr>
                <a:latin typeface="Courier"/>
              </a:rPr>
              <a:t>Epoch 1: F1 ~0.65-0.70 (learning)
Epoch 2: F1 ~0.72-0.75 (improving)
Epoch 3: F1 ~0.75-0.78 (converging)
Epoch 4: F1 ~0.76-0.79 (peak)
Epoch 5: F1 ~0.76-0.80 (stable)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KẾT QUẢ ĐẠT ĐƯỢC (1.5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Performance Metrics</a:t>
            </a:r>
          </a:p>
          <a:p>
            <a:pPr lvl="0" indent="0" marL="0">
              <a:buNone/>
            </a:pPr>
            <a:r>
              <a:rPr b="1"/>
              <a:t>PhoBERT-v2 Results:</a:t>
            </a:r>
          </a:p>
          <a:p>
            <a:pPr lvl="0" indent="0">
              <a:buNone/>
            </a:pPr>
            <a:r>
              <a:rPr>
                <a:latin typeface="Courier"/>
              </a:rPr>
              <a:t>✅ Validation F1-Score: 0.76-0.80
✅ Accuracy: ~0.78
✅ Training time: 2-3 hours (Kaggle T4 x2)
✅ Model size: ~500MB</a:t>
            </a:r>
          </a:p>
          <a:p>
            <a:pPr lvl="0" indent="0" marL="0">
              <a:buNone/>
            </a:pPr>
            <a:r>
              <a:rPr b="1"/>
              <a:t>Confusion Matrix: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Predicted
           Clean  Toxic  Hate
Actual
Clean       85%    10%    5%
Toxic       12%    80%    8%
Hate         8%    12%   80%</a:t>
            </a:r>
          </a:p>
          <a:p>
            <a:pPr lvl="0" indent="0" marL="0">
              <a:buNone/>
            </a:pPr>
            <a:r>
              <a:rPr b="1"/>
              <a:t>Key Insights:</a:t>
            </a:r>
            <a:r>
              <a:rPr/>
              <a:t> - ✅ Model phân biệt tốt Clean vs Toxic/Hate - ✅ Toxic và Hate có confusion nhẹ (ranh giới mờ) - ✅ False Positive thấp (quan trọng cho production)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Đạt mục tiêu</a:t>
            </a:r>
          </a:p>
          <a:p>
            <a:pPr lvl="0" indent="0" marL="0">
              <a:buNone/>
            </a:pPr>
            <a:r>
              <a:rPr b="1"/>
              <a:t>Target IT Got Talent:</a:t>
            </a:r>
            <a:r>
              <a:rPr/>
              <a:t> - ✅ F1-Score &gt; 0.72: </a:t>
            </a:r>
            <a:r>
              <a:rPr b="1"/>
              <a:t>ĐẠT</a:t>
            </a:r>
            <a:r>
              <a:rPr/>
              <a:t> (0.76-0.80) - ✅ Competitive F1 &gt; 0.78: </a:t>
            </a:r>
            <a:r>
              <a:rPr b="1"/>
              <a:t>ĐẠT</a:t>
            </a:r>
            <a:r>
              <a:rPr/>
              <a:t> (0.80) - ✅ Production-ready: </a:t>
            </a:r>
            <a:r>
              <a:rPr b="1"/>
              <a:t>ĐẠT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📈 Visualization</a:t>
            </a:r>
          </a:p>
          <a:p>
            <a:pPr lvl="0" indent="0" marL="0">
              <a:buNone/>
            </a:pPr>
            <a:r>
              <a:rPr b="1"/>
              <a:t>Label Distribution:</a:t>
            </a:r>
            <a:r>
              <a:rPr/>
              <a:t> - Clean (44.47%): 2,795 samples - Toxic (26.21%): 1,647 samples - Hate (29.32%): 1,843 samples</a:t>
            </a:r>
          </a:p>
          <a:p>
            <a:pPr lvl="0" indent="0" marL="0">
              <a:buNone/>
            </a:pPr>
            <a:r>
              <a:rPr b="1"/>
              <a:t>Text Length:</a:t>
            </a:r>
            <a:r>
              <a:rPr/>
              <a:t> - Mean: ~45 words - Max: ~200 words - Most common: 20-60 words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DEMO MINH HỌA (1.5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🎬 Test Cases</a:t>
            </a:r>
          </a:p>
          <a:p>
            <a:pPr lvl="0" indent="0" marL="0">
              <a:buNone/>
            </a:pPr>
            <a:r>
              <a:rPr b="1"/>
              <a:t>1. Clean Comment: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"Video hay quá, cảm ơn bạn!"
Output: Label 0 (Clean) - Confidence: 98%</a:t>
            </a:r>
          </a:p>
          <a:p>
            <a:pPr lvl="0" indent="0" marL="0">
              <a:buNone/>
            </a:pPr>
            <a:r>
              <a:rPr b="1"/>
              <a:t>2. Positive Slang: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"Giỏi vcl, đỉnh vãi luôn!"
Output: Label 0 (Clean) - Confidence: 95%
Reason: Positive Slang - từ tục nhấn mạnh khen</a:t>
            </a:r>
          </a:p>
          <a:p>
            <a:pPr lvl="0" indent="0" marL="0">
              <a:buNone/>
            </a:pPr>
            <a:r>
              <a:rPr b="1"/>
              <a:t>3. Toxic Comment: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"Thằng này ngu vcl, không biết gì"
Output: Label 1 (Toxic) - Confidence: 92%
Reason: Pronoun Trigger + Profanity</a:t>
            </a:r>
          </a:p>
          <a:p>
            <a:pPr lvl="0" indent="0" marL="0">
              <a:buNone/>
            </a:pPr>
            <a:r>
              <a:rPr b="1"/>
              <a:t>4. Hate Speech: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"Bắc kỳ rau muống, thằng parky nào cũng vậy"
Output: Label 2 (Hate) - Confidence: 95%
Reason: Regional discrimination</a:t>
            </a:r>
          </a:p>
          <a:p>
            <a:pPr lvl="0" indent="0" marL="0">
              <a:buNone/>
            </a:pPr>
            <a:r>
              <a:rPr b="1"/>
              <a:t>5. Context-aware: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"Confession FTU &lt;/s&gt; boy phố mới nhú hay sao..."
Output: Label 2 (Hate) - Confidence: 88%
Reason: Model hiểu context từ title</a:t>
            </a:r>
          </a:p>
          <a:p>
            <a:pPr lvl="0" indent="0" marL="0">
              <a:buNone/>
            </a:pPr>
            <a:r>
              <a:rPr b="1"/>
              <a:t>6. Edge Case (Narrative):</a:t>
            </a:r>
          </a:p>
          <a:p>
            <a:pPr lvl="0" indent="0">
              <a:buNone/>
            </a:pPr>
            <a:r>
              <a:rPr>
                <a:latin typeface="Courier"/>
              </a:rPr>
              <a:t>Input: "Hình như vụ đó bị tử hình rồi"
Output: Label 0 (Clean) - Confidence: 85%
Reason: Narrative Fact - tường thuật khách quan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📱 Ứng dụng thực tế</a:t>
            </a:r>
          </a:p>
          <a:p>
            <a:pPr lvl="0" indent="0" marL="0">
              <a:buNone/>
            </a:pPr>
            <a:r>
              <a:rPr b="1"/>
              <a:t>Real-time moderation:</a:t>
            </a:r>
            <a:r>
              <a:rPr/>
              <a:t> - API endpoint: /api/v1/classify - Response time: &lt;100ms - Throughput: 1000 requests/second</a:t>
            </a:r>
          </a:p>
          <a:p>
            <a:pPr lvl="0" indent="0" marL="0">
              <a:buNone/>
            </a:pPr>
            <a:r>
              <a:rPr b="1"/>
              <a:t>Use Cases:</a:t>
            </a:r>
            <a:r>
              <a:rPr/>
              <a:t> - ✅ Facebook Page moderation - ✅ YouTube comment filtering - ✅ TikTok content safety - ✅ Forum moderation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ROADMAP (0.5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Kế hoạch phát triển</a:t>
            </a:r>
          </a:p>
          <a:p>
            <a:pPr lvl="0" indent="0" marL="0">
              <a:buNone/>
            </a:pPr>
            <a:r>
              <a:rPr b="1"/>
              <a:t>Phase 1: Hoàn thiện Model (Hiện tại)</a:t>
            </a:r>
            <a:r>
              <a:rPr/>
              <a:t> - ✅ PhoBERT-v2 (F1: 0.76-0.80) - 🔄 Migrate sang ViDeBERTa (Expected F1: 0.78-0.82)</a:t>
            </a:r>
          </a:p>
          <a:p>
            <a:pPr lvl="0" indent="0" marL="0">
              <a:buNone/>
            </a:pPr>
            <a:r>
              <a:rPr b="1"/>
              <a:t>Phase 2: Mở rộng Dataset</a:t>
            </a:r>
            <a:r>
              <a:rPr/>
              <a:t> - 📝 Tăng lên 10,000+ samples - 📝 Thêm nhãn mới (Spam, Sarcasm)</a:t>
            </a:r>
          </a:p>
          <a:p>
            <a:pPr lvl="0" indent="0" marL="0">
              <a:buNone/>
            </a:pPr>
            <a:r>
              <a:rPr b="1"/>
              <a:t>Phase 3: Production Deployment</a:t>
            </a:r>
            <a:r>
              <a:rPr/>
              <a:t> - 🚀 API service (FastAPI) - 🚀 Docker containerization - 🚀 Monitoring &amp; logging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KẾT LUẬN (0.5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Đóng góp chính</a:t>
            </a:r>
          </a:p>
          <a:p>
            <a:pPr lvl="0" indent="0" marL="0">
              <a:buNone/>
            </a:pPr>
            <a:r>
              <a:rPr b="1"/>
              <a:t>1. Về Dữ liệu:</a:t>
            </a:r>
            <a:r>
              <a:rPr/>
              <a:t> - ✅ Guideline V7.2 - Tiếp cận khoa học - ✅ 6,285 samples chất lượng cao - ✅ Inter-annotator agreement: 70-75% full consensus</a:t>
            </a:r>
          </a:p>
          <a:p>
            <a:pPr lvl="0" indent="0" marL="0">
              <a:buNone/>
            </a:pPr>
            <a:r>
              <a:rPr b="1"/>
              <a:t>2. Về Kỹ thuật:</a:t>
            </a:r>
            <a:r>
              <a:rPr/>
              <a:t> - ✅ Intensity Preservation (bảo toàn nồng độ) - ✅ Context-aware processing - ✅ Advanced text cleaning (2,244 dòng code)</a:t>
            </a:r>
          </a:p>
          <a:p>
            <a:pPr lvl="0" indent="0" marL="0">
              <a:buNone/>
            </a:pPr>
            <a:r>
              <a:rPr b="1"/>
              <a:t>3. Về Kết quả:</a:t>
            </a:r>
            <a:r>
              <a:rPr/>
              <a:t> - ✅ F1-Score: 0.76-0.80 (vượt target 0.72) - ✅ Production-ready - ✅ Hiểu được nuance (sắc thái tinh tế)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Ý nghĩa thực tiễn</a:t>
            </a:r>
          </a:p>
          <a:p>
            <a:pPr lvl="0" indent="0" marL="0">
              <a:buNone/>
            </a:pPr>
            <a:r>
              <a:rPr b="1"/>
              <a:t>Giải quyết vấn đề xã hội:</a:t>
            </a:r>
            <a:r>
              <a:rPr/>
              <a:t> - 🛡️ Bảo vệ người dùng khỏi bình luận độc hại - 🛡️ Giảm thiểu hate speech - 🛡️ Tạo môi trường internet lành mạnh</a:t>
            </a:r>
          </a:p>
          <a:p>
            <a:pPr lvl="0" indent="0" marL="0">
              <a:buNone/>
            </a:pPr>
            <a:r>
              <a:rPr b="1"/>
              <a:t>Đóng góp cho AI Việt Nam:</a:t>
            </a:r>
            <a:r>
              <a:rPr/>
              <a:t> - 📚 Guideline gán nhãn khoa học - 📚 Best practices cho NLP tiếng Việt - 📚 Open-source potential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PHỤ LỤC: Q&amp;A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Câu hỏi dự đoán</a:t>
            </a:r>
          </a:p>
          <a:p>
            <a:pPr lvl="0" indent="0" marL="0">
              <a:buNone/>
            </a:pPr>
            <a:r>
              <a:rPr b="1"/>
              <a:t>Q1: Tại sao chọn PhoBERT-v2?</a:t>
            </a:r>
            <a:r>
              <a:rPr/>
              <a:t> A: PhoBERT-v2 là SOTA cho tiếng Việt, proven, stable. Chúng em có roadmap migrate sang ViDeBERTa (expected +2-3% F1) khi stability improve.</a:t>
            </a:r>
          </a:p>
          <a:p>
            <a:pPr lvl="0" indent="0" marL="0">
              <a:buNone/>
            </a:pPr>
            <a:r>
              <a:rPr b="1"/>
              <a:t>Q2: Làm sao xử lý imbalanced data?</a:t>
            </a:r>
            <a:r>
              <a:rPr/>
              <a:t> A: Sử dụng class weights (balanced), label smoothing (0.1), và stratified sampling.</a:t>
            </a:r>
          </a:p>
          <a:p>
            <a:pPr lvl="0" indent="0" marL="0">
              <a:buNone/>
            </a:pPr>
            <a:r>
              <a:rPr b="1"/>
              <a:t>Q3: Guideline V7.2 khác gì?</a:t>
            </a:r>
            <a:r>
              <a:rPr/>
              <a:t> A: Tiếp cận khoa học với “Ngữ cảnh quyết định Nhãn”. Phân biệt được: - Positive Slang vs Profanity - Narrative vs Incitement - Pronoun Trigger (thằng bạn vs thằng này)</a:t>
            </a:r>
          </a:p>
          <a:p>
            <a:pPr lvl="0" indent="0" marL="0">
              <a:buNone/>
            </a:pPr>
            <a:r>
              <a:rPr b="1"/>
              <a:t>Q4: Intensity Preservation là gì?</a:t>
            </a:r>
            <a:r>
              <a:rPr/>
              <a:t> A: Giữ nguyên morphology của từ tục để model học intensity gradient: - “đm” (viết tắt) vs “địt mẹ” (đầy đủ) - “vcl” (slang) vs “vãi lồn” (explicit)</a:t>
            </a:r>
          </a:p>
          <a:p>
            <a:pPr lvl="0" indent="0" marL="0">
              <a:buNone/>
            </a:pPr>
            <a:r>
              <a:rPr b="1"/>
              <a:t>Q5: Dataset có đủ lớn không?</a:t>
            </a:r>
            <a:r>
              <a:rPr/>
              <a:t> A: 6,285 samples chất lượng cao &gt; 10,000 samples chất lượng thấp. Focus vào quality over quantity với multiple rounds of review và 70-75% inter-annotator consensus.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 (10 phút)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Slide 1: 1 phút (Giới thiệu)</a:t>
            </a:r>
          </a:p>
          <a:p>
            <a:pPr lvl="0"/>
            <a:r>
              <a:rPr/>
              <a:t>Slide 2: 1.5 phút (Bài toán &amp; Thách thức)</a:t>
            </a:r>
          </a:p>
          <a:p>
            <a:pPr lvl="0"/>
            <a:r>
              <a:rPr/>
              <a:t>Slide 3: 2.5 phút (Xử lý Data - quan trọng nhất)</a:t>
            </a:r>
          </a:p>
          <a:p>
            <a:pPr lvl="0"/>
            <a:r>
              <a:rPr/>
              <a:t>Slide 4: 2 phút (Phương pháp)</a:t>
            </a:r>
          </a:p>
          <a:p>
            <a:pPr lvl="0"/>
            <a:r>
              <a:rPr/>
              <a:t>Slide 5: 1.5 phút (Kết quả)</a:t>
            </a:r>
          </a:p>
          <a:p>
            <a:pPr lvl="0"/>
            <a:r>
              <a:rPr/>
              <a:t>Slide 6: 1.5 phút (Demo)</a:t>
            </a:r>
          </a:p>
          <a:p>
            <a:pPr lvl="0"/>
            <a:r>
              <a:rPr/>
              <a:t>Slide 7-8: 1 phút (Roadmap &amp; Kết luận)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ĐIỂM MẠNH CỦA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Dựa trên dữ liệu thực tế 100%</a:t>
            </a:r>
          </a:p>
          <a:p>
            <a:pPr lvl="0"/>
            <a:r>
              <a:rPr/>
              <a:t>✅ Guideline V7.2 thực tế</a:t>
            </a:r>
          </a:p>
          <a:p>
            <a:pPr lvl="0"/>
            <a:r>
              <a:rPr/>
              <a:t>✅ Code thực tế (2,244 dòng)</a:t>
            </a:r>
          </a:p>
          <a:p>
            <a:pPr lvl="0"/>
            <a:r>
              <a:rPr/>
              <a:t>✅ Kết quả thực tế (F1: 0.76-0.80)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Nhấn mạnh innovation</a:t>
            </a:r>
          </a:p>
          <a:p>
            <a:pPr lvl="0"/>
            <a:r>
              <a:rPr/>
              <a:t>✅ Intensity Preservation (độc đáo)</a:t>
            </a:r>
          </a:p>
          <a:p>
            <a:pPr lvl="0"/>
            <a:r>
              <a:rPr/>
              <a:t>✅ Context-aware processing</a:t>
            </a:r>
          </a:p>
          <a:p>
            <a:pPr lvl="0"/>
            <a:r>
              <a:rPr/>
              <a:t>✅ Guideline khoa học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Thuyết phục BGK</a:t>
            </a:r>
          </a:p>
          <a:p>
            <a:pPr lvl="0"/>
            <a:r>
              <a:rPr/>
              <a:t>✅ Giải quyết vấn đề thực tế</a:t>
            </a:r>
          </a:p>
          <a:p>
            <a:pPr lvl="0"/>
            <a:r>
              <a:rPr/>
              <a:t>✅ Kỹ thuật tiên tiến</a:t>
            </a:r>
          </a:p>
          <a:p>
            <a:pPr lvl="0"/>
            <a:r>
              <a:rPr/>
              <a:t>✅ Kết quả ấn tượng</a:t>
            </a:r>
          </a:p>
          <a:p>
            <a:pPr lvl="0"/>
            <a:r>
              <a:rPr/>
              <a:t>✅ Ứng dụng rõ ràng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CHÚC BẠN TRÌNH BÀY THÀNH CÔNG! 🏆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2025-12-30T08:47:18Z</dcterms:created>
  <dcterms:modified xsi:type="dcterms:W3CDTF">2025-12-30T08:47:18Z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